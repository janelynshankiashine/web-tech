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_clean_white_background_logo_design_graphic._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4114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5806440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675BE"/>
                </a:solidFill>
                <a:latin typeface="Aptos"/>
              </a:defRPr>
            </a:pPr>
            <a:r>
              <a:t>Building Edge Computing Solutions for IoT Ecosystems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A4A"/>
                </a:solidFill>
                <a:latin typeface="Aptos Display"/>
              </a:defRPr>
            </a:pPr>
            <a:r>
              <a:t>About EdgeWorks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Aptos"/>
              </a:defRPr>
            </a:pPr>
            <a:r>
              <a:t>Connecting devices, processing data, enabling intelligence at the 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B34"/>
                </a:solidFill>
                <a:latin typeface="Aptos"/>
              </a:defRPr>
            </a:pPr>
            <a:r>
              <a:t>• EdgeWorks is a technology service focused on edge computing and IoT ecosystems.</a:t>
            </a:r>
          </a:p>
          <a:p>
            <a:pPr>
              <a:spcAft>
                <a:spcPts val="1300"/>
              </a:spcAft>
              <a:defRPr sz="2000">
                <a:solidFill>
                  <a:srgbClr val="232B34"/>
                </a:solidFill>
                <a:latin typeface="Aptos"/>
              </a:defRPr>
            </a:pPr>
            <a:r>
              <a:t>• We bring computation and analytics closer to connected devices and data sources.</a:t>
            </a:r>
          </a:p>
          <a:p>
            <a:pPr>
              <a:spcAft>
                <a:spcPts val="1300"/>
              </a:spcAft>
              <a:defRPr sz="2000">
                <a:solidFill>
                  <a:srgbClr val="232B34"/>
                </a:solidFill>
                <a:latin typeface="Aptos"/>
              </a:defRPr>
            </a:pPr>
            <a:r>
              <a:t>• Our approach helps reduce latency, improve responsiveness, and support real-time decisions.</a:t>
            </a:r>
          </a:p>
          <a:p>
            <a:pPr>
              <a:spcAft>
                <a:spcPts val="1300"/>
              </a:spcAft>
              <a:defRPr sz="2000">
                <a:solidFill>
                  <a:srgbClr val="232B34"/>
                </a:solidFill>
                <a:latin typeface="Aptos"/>
              </a:defRPr>
            </a:pPr>
            <a:r>
              <a:t>• Solutions are designed with scalability, reliability, and security in mind.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27432"/>
          </a:xfrm>
          <a:prstGeom prst="rect">
            <a:avLst/>
          </a:prstGeom>
          <a:solidFill>
            <a:srgbClr val="16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A4A"/>
                </a:solidFill>
                <a:latin typeface="Aptos Display"/>
              </a:defRPr>
            </a:pPr>
            <a:r>
              <a:t>The Problem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Aptos"/>
              </a:defRPr>
            </a:pPr>
            <a:r>
              <a:t>Traditional cloud-only IoT architectures can create delays and connectivity challenges.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212080" cy="169164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Latency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Sending every event to a distant cloud can slow time-critical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08760"/>
            <a:ext cx="5212080" cy="169164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Bandwidth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Large volumes of sensor data can increase network usage and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57600"/>
            <a:ext cx="5212080" cy="169164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Reliability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Connectivity interruptions can affect cloud-dependent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657600"/>
            <a:ext cx="5212080" cy="169164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Security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Sensitive device data needs stronger control and protection.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73952"/>
            <a:ext cx="10881360" cy="27432"/>
          </a:xfrm>
          <a:prstGeom prst="rect">
            <a:avLst/>
          </a:prstGeom>
          <a:solidFill>
            <a:srgbClr val="16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A4A"/>
                </a:solidFill>
                <a:latin typeface="Aptos Display"/>
              </a:defRPr>
            </a:pPr>
            <a:r>
              <a:t>Our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Aptos"/>
              </a:defRPr>
            </a:pPr>
            <a:r>
              <a:t>Practical solutions for connected devices and intelligent edge environments.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3566160" cy="182880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IoT Device Integration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Connect sensors, machines, gateways, and smart devices.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566160" cy="182880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Edge Computing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Run workloads closer to where data is generated.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566160" cy="182880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Real-Time Analytics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Analyze events locally for faster operational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49039"/>
            <a:ext cx="3566160" cy="182880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Edge Security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Protect devices, workloads, data, and communications.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749039"/>
            <a:ext cx="3566160" cy="182880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Monitoring &amp; Management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Track device health and manage distributed edge infrastructure.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3749039"/>
            <a:ext cx="3566160" cy="182880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Scalable Architecture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Design solutions that can grow with business and device demand.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73952"/>
            <a:ext cx="10881360" cy="27432"/>
          </a:xfrm>
          <a:prstGeom prst="rect">
            <a:avLst/>
          </a:prstGeom>
          <a:solidFill>
            <a:srgbClr val="16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A4A"/>
                </a:solidFill>
                <a:latin typeface="Aptos Display"/>
              </a:defRPr>
            </a:pPr>
            <a:r>
              <a:t>How EdgeWorks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Aptos"/>
              </a:defRPr>
            </a:pPr>
            <a:r>
              <a:t>A simple edge-to-cloud flow for IoT ecosystems.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874519"/>
            <a:ext cx="594360" cy="594360"/>
          </a:xfrm>
          <a:prstGeom prst="ellipse">
            <a:avLst/>
          </a:prstGeom>
          <a:solidFill>
            <a:srgbClr val="16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697480"/>
            <a:ext cx="2423160" cy="160020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Devices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Sensors and machines generate data.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34640" y="1993392"/>
            <a:ext cx="502920" cy="320040"/>
          </a:xfrm>
          <a:prstGeom prst="rightArrow">
            <a:avLst/>
          </a:prstGeom>
          <a:solidFill>
            <a:srgbClr val="16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74720" y="1874519"/>
            <a:ext cx="594360" cy="594360"/>
          </a:xfrm>
          <a:prstGeom prst="ellipse">
            <a:avLst/>
          </a:prstGeom>
          <a:solidFill>
            <a:srgbClr val="16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697480"/>
            <a:ext cx="2423160" cy="160020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Edge Gateway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Data is filtered, processed, and analyzed locally.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15000" y="1993392"/>
            <a:ext cx="502920" cy="320040"/>
          </a:xfrm>
          <a:prstGeom prst="rightArrow">
            <a:avLst/>
          </a:prstGeom>
          <a:solidFill>
            <a:srgbClr val="16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55080" y="1874519"/>
            <a:ext cx="594360" cy="594360"/>
          </a:xfrm>
          <a:prstGeom prst="ellipse">
            <a:avLst/>
          </a:prstGeom>
          <a:solidFill>
            <a:srgbClr val="16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697480"/>
            <a:ext cx="2423160" cy="160020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Intelligence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Rules and analytics trigger rapid actions.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5360" y="1993392"/>
            <a:ext cx="502920" cy="320040"/>
          </a:xfrm>
          <a:prstGeom prst="rightArrow">
            <a:avLst/>
          </a:prstGeom>
          <a:solidFill>
            <a:srgbClr val="16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35440" y="1874519"/>
            <a:ext cx="594360" cy="594360"/>
          </a:xfrm>
          <a:prstGeom prst="ellipse">
            <a:avLst/>
          </a:prstGeom>
          <a:solidFill>
            <a:srgbClr val="16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697480"/>
            <a:ext cx="2423160" cy="160020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Cloud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Selected data is stored, visualized, or used for deeper analytics.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73952"/>
            <a:ext cx="10881360" cy="27432"/>
          </a:xfrm>
          <a:prstGeom prst="rect">
            <a:avLst/>
          </a:prstGeom>
          <a:solidFill>
            <a:srgbClr val="16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A4A"/>
                </a:solidFill>
                <a:latin typeface="Aptos Display"/>
              </a:defRPr>
            </a:pPr>
            <a:r>
              <a:t>Vision &amp; 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257800" cy="411480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VISION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To build a smarter, faster, and more connected world through innovative edge computing solutions, enabling IoT ecosystems to process data closer to where it is generated and make intelligent decisions in real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508760"/>
            <a:ext cx="5257800" cy="411480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MISSION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To develop secure, scalable, and reliable edge computing solutions that connect IoT devices, enable real-time data processing, reduce latency, and help organizations achieve greater efficiency, automation, and intelligent decision-making.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27432"/>
          </a:xfrm>
          <a:prstGeom prst="rect">
            <a:avLst/>
          </a:prstGeom>
          <a:solidFill>
            <a:srgbClr val="16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A4A"/>
                </a:solidFill>
                <a:latin typeface="Aptos Display"/>
              </a:defRPr>
            </a:pPr>
            <a:r>
              <a:t>Benefits &amp;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Aptos"/>
              </a:defRPr>
            </a:pPr>
            <a:r>
              <a:t>Where edge computing can create measurable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123444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Smart Manufacturing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Machine monitoring, predictive maintenance, and real-time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5212080" cy="123444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Smart Buildings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Energy optimization, security, and connected facility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90088"/>
            <a:ext cx="5212080" cy="123444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Healthcare IoT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Local processing for connected equipment and time-sensitive monitoring.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990088"/>
            <a:ext cx="5212080" cy="123444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Retail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In-store analytics, inventory intelligence, and responsive customer experiences.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562856"/>
            <a:ext cx="5212080" cy="123444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Transportation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Vehicle, traffic, and infrastructure data processed closer to the 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562856"/>
            <a:ext cx="5212080" cy="1234440"/>
          </a:xfrm>
          <a:prstGeom prst="roundRect">
            <a:avLst/>
          </a:prstGeom>
          <a:solidFill>
            <a:srgbClr val="F1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spcAft>
                <a:spcPts val="800"/>
              </a:spcAft>
              <a:defRPr sz="1700" b="1">
                <a:solidFill>
                  <a:srgbClr val="112A4A"/>
                </a:solidFill>
              </a:defRPr>
            </a:pPr>
            <a:r>
              <a:t>Agriculture</a:t>
            </a:r>
          </a:p>
          <a:p>
            <a:pPr>
              <a:defRPr sz="1250">
                <a:solidFill>
                  <a:srgbClr val="232B34"/>
                </a:solidFill>
              </a:defRPr>
            </a:pPr>
            <a:r>
              <a:t>Sensor-driven irrigation, environmental monitoring, and automation.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73952"/>
            <a:ext cx="10881360" cy="27432"/>
          </a:xfrm>
          <a:prstGeom prst="rect">
            <a:avLst/>
          </a:prstGeom>
          <a:solidFill>
            <a:srgbClr val="16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12A4A"/>
                </a:solidFill>
              </a:defRPr>
            </a:pPr>
            <a:r>
              <a:t>EDGEWORKS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57400"/>
            <a:ext cx="9784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75BE"/>
                </a:solidFill>
              </a:defRPr>
            </a:pPr>
            <a:r>
              <a:t>Connect. Process. Empower.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246120"/>
            <a:ext cx="6675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• Connect IoT devices and data sources.</a:t>
            </a:r>
          </a:p>
          <a:p>
            <a:pPr>
              <a:spcAft>
                <a:spcPts val="13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• Process information closer to the edge.</a:t>
            </a:r>
          </a:p>
          <a:p>
            <a:pPr>
              <a:spcAft>
                <a:spcPts val="13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• Empower organizations with faster, smarter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66928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12A4A"/>
                </a:solidFill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27432"/>
          </a:xfrm>
          <a:prstGeom prst="rect">
            <a:avLst/>
          </a:prstGeom>
          <a:solidFill>
            <a:srgbClr val="16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