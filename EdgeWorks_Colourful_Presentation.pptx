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65760"/>
            <a:ext cx="2011680" cy="2011680"/>
          </a:xfrm>
          <a:prstGeom prst="ellipse">
            <a:avLst/>
          </a:prstGeom>
          <a:solidFill>
            <a:srgbClr val="37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097280"/>
            <a:ext cx="1097280" cy="1097280"/>
          </a:xfrm>
          <a:prstGeom prst="ellipse">
            <a:avLst/>
          </a:prstGeom>
          <a:solidFill>
            <a:srgbClr val="267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5303520"/>
            <a:ext cx="2468880" cy="2468880"/>
          </a:xfrm>
          <a:prstGeom prst="ellipse">
            <a:avLst/>
          </a:prstGeom>
          <a:solidFill>
            <a:srgbClr val="754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0" y="5577840"/>
            <a:ext cx="1280160" cy="1280160"/>
          </a:xfrm>
          <a:prstGeom prst="ellipse">
            <a:avLst/>
          </a:prstGeom>
          <a:solidFill>
            <a:srgbClr val="2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FFFFFF"/>
                </a:solidFill>
              </a:rPr>
              <a:t>EDGEWORKS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37C6D3"/>
                </a:solidFill>
              </a:rPr>
              <a:t>Building Edge Computing Solutions
for IoT Ecosystems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FFFFFF"/>
                </a:solidFill>
              </a:rPr>
              <a:t>Connect. Process. Empower.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About EdgeWorks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37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Turning connected-device data into faster, smarter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What is Edge Computing?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Processing data closer to where it is generated instead of sending everything to a distant cloud.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28800"/>
            <a:ext cx="34747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What EdgeWorks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487168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Designs edge computing solutions that connect IoT devices, process information locally, and support real-time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828800"/>
            <a:ext cx="34747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4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487168"/>
            <a:ext cx="30175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Lower latency, reduced bandwidth use, stronger resilience, and improved responsiveness for connected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F48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Modern IoT systems generate huge volumes of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48B40"/>
                </a:solidFill>
              </a:rPr>
              <a:t>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73345"/>
                </a:solidFill>
              </a:rPr>
              <a:t>continuous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73345"/>
                </a:solidFill>
                <a:latin typeface="Aptos"/>
              </a:defRPr>
            </a:pPr>
            <a:r>
              <a:t>•  Cloud-only processing can introduce delay.</a:t>
            </a:r>
          </a:p>
          <a:p>
            <a:pPr>
              <a:spcAft>
                <a:spcPts val="1200"/>
              </a:spcAft>
              <a:defRPr sz="1900">
                <a:solidFill>
                  <a:srgbClr val="273345"/>
                </a:solidFill>
                <a:latin typeface="Aptos"/>
              </a:defRPr>
            </a:pPr>
            <a:r>
              <a:t>•  Large data transfers consume network bandwidth.</a:t>
            </a:r>
          </a:p>
          <a:p>
            <a:pPr>
              <a:spcAft>
                <a:spcPts val="1200"/>
              </a:spcAft>
              <a:defRPr sz="1900">
                <a:solidFill>
                  <a:srgbClr val="273345"/>
                </a:solidFill>
                <a:latin typeface="Aptos"/>
              </a:defRPr>
            </a:pPr>
            <a:r>
              <a:t>•  Disconnected devices may lose access to centralized services.</a:t>
            </a:r>
          </a:p>
          <a:p>
            <a:pPr>
              <a:spcAft>
                <a:spcPts val="1200"/>
              </a:spcAft>
              <a:defRPr sz="1900">
                <a:solidFill>
                  <a:srgbClr val="273345"/>
                </a:solidFill>
                <a:latin typeface="Aptos"/>
              </a:defRPr>
            </a:pPr>
            <a:r>
              <a:t>•  Critical applications need quick, local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EdgeWorks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2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A connected architecture that brings intelligence closer to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331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01  IoT Devices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7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Sensors • cameras • machines</a:t>
            </a:r>
          </a:p>
        </p:txBody>
      </p:sp>
      <p:sp>
        <p:nvSpPr>
          <p:cNvPr id="9" name="Chevron 8"/>
          <p:cNvSpPr/>
          <p:nvPr/>
        </p:nvSpPr>
        <p:spPr>
          <a:xfrm>
            <a:off x="2926080" y="2788920"/>
            <a:ext cx="365760" cy="502920"/>
          </a:xfrm>
          <a:prstGeom prst="chevron">
            <a:avLst/>
          </a:prstGeom>
          <a:solidFill>
            <a:srgbClr val="37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331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26771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02  Edge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761487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Local processing • analytics</a:t>
            </a:r>
          </a:p>
        </p:txBody>
      </p:sp>
      <p:sp>
        <p:nvSpPr>
          <p:cNvPr id="13" name="Chevron 12"/>
          <p:cNvSpPr/>
          <p:nvPr/>
        </p:nvSpPr>
        <p:spPr>
          <a:xfrm>
            <a:off x="5852160" y="2788920"/>
            <a:ext cx="365760" cy="502920"/>
          </a:xfrm>
          <a:prstGeom prst="chevron">
            <a:avLst/>
          </a:prstGeom>
          <a:solidFill>
            <a:srgbClr val="2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103120"/>
            <a:ext cx="2331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6771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03 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61487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Storage • dashboards</a:t>
            </a:r>
          </a:p>
        </p:txBody>
      </p:sp>
      <p:sp>
        <p:nvSpPr>
          <p:cNvPr id="17" name="Chevron 16"/>
          <p:cNvSpPr/>
          <p:nvPr/>
        </p:nvSpPr>
        <p:spPr>
          <a:xfrm>
            <a:off x="8778240" y="2788920"/>
            <a:ext cx="365760" cy="502920"/>
          </a:xfrm>
          <a:prstGeom prst="chevron">
            <a:avLst/>
          </a:prstGeom>
          <a:solidFill>
            <a:srgbClr val="267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81160" y="2103120"/>
            <a:ext cx="2331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4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267712"/>
            <a:ext cx="18745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04 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761487"/>
            <a:ext cx="187451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Alerts •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Core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267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Flexible building blocks for IoT and edge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Edge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Deploy edge nodes, gateways and local compute resources.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01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Real-Time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957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Filter and analyze data locally for rapid insights.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7373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019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IoT Connectivity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Connect sensors, devices and systems securely.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4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593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Security &amp;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531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Support secure communication and resilient operation.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794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9593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Scalable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531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Design solutions that grow with devices and workloads.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794760"/>
            <a:ext cx="342900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5935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Cloud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53128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Bridge edge processing with centralized cloud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Benefits &amp; 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754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Where edge computing can create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Smart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4144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Monitor machines and respond to production events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4767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Smart Buildings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4144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Use connected sensors for energy, safety and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78308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4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947672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Healthcare 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44144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Enable responsive monitoring and local processing.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8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219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Retail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Support intelligent cameras, inventory and customer experiences.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65760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82219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Transportation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1596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Process vehicle and infrastructure data closer to the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657600"/>
            <a:ext cx="33832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9" y="3822191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Energy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315968"/>
            <a:ext cx="29260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Monitor distributed equipment and detect conditions quickly.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2203D"/>
                </a:solidFill>
                <a:latin typeface="Aptos Display"/>
              </a:rPr>
              <a:t>Vision &amp; 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78992"/>
            <a:ext cx="1005840" cy="73152"/>
          </a:xfrm>
          <a:prstGeom prst="rect">
            <a:avLst/>
          </a:prstGeom>
          <a:solidFill>
            <a:srgbClr val="37C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080"/>
                </a:solidFill>
                <a:latin typeface="Aptos"/>
              </a:rPr>
              <a:t>What EdgeWorks aims to achieve.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3035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C6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48463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To build a smarter, faster, and more connected world through innovative edge computing solutions, enabling IoT ecosystems to process data closer to where it is generated and make intelligent decisions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3035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54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93392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D"/>
                </a:solidFill>
                <a:latin typeface="Aptos Display"/>
              </a:rPr>
              <a:t>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48463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273345"/>
                </a:solidFill>
                <a:latin typeface="Aptos"/>
              </a:rPr>
              <a:t>To develop secure, scalable, and reliable edge computing solutions that connect IoT devices, enable real-time data processing, reduce latency, and help organizations achieve greater efficiency, automation, and intelligent decision-making.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7080"/>
                </a:solidFill>
              </a:rPr>
              <a:t>EDGEWORKS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Why EdgeWorks?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57400"/>
            <a:ext cx="8503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Process data closer to the source</a:t>
            </a:r>
          </a:p>
          <a:p>
            <a:pPr>
              <a:spcAft>
                <a:spcPts val="13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Reduce latency and unnecessary data transfer</a:t>
            </a:r>
          </a:p>
          <a:p>
            <a:pPr>
              <a:spcAft>
                <a:spcPts val="13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Enable real-time IoT intelligence</a:t>
            </a:r>
          </a:p>
          <a:p>
            <a:pPr>
              <a:spcAft>
                <a:spcPts val="13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Build secure, reliable and scalable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7C6D3"/>
                </a:solidFill>
              </a:rPr>
              <a:t>EDGEWORKS  •  CONNECT. PROCESS. EMPOWER.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